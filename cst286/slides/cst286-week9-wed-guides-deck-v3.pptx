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sit with their guide group. Give each conversation 10 minutes to start, and add time if groups are still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10 minutes; add more if the groups are still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Quiet reading time. Point students to Pair A (phone on ice vs. wooden desk) and Pair B (baseball vs. badminton shuttlecock).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 minutes. Circulate. Remind students that Question 1 of next Wednesday's exam asks them to work one of their own scenarios by hand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Pair A briefly so the room sees that Scenario 4 is just Scenario 1 with one physical condition changed, not a brand-new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 minutes. This is the core thinking step of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34A"/>
        </a:solidFill>
      </p:bgPr>
    </p:bg>
    <p:spTree>
      <p:nvGrpSpPr>
        <p:cNvPr id="1" name=""/>
        <p:cNvGrpSpPr/>
        <p:nvPr/>
      </p:nvGrpSpPr>
      <p:grpSpPr>
        <a:xfrm>
          <a:off x="0" y="0"/>
          <a:ext cx="0" cy="0"/>
          <a:chOff x="0" y="0"/>
          <a:chExt cx="0" cy="0"/>
        </a:xfrm>
      </p:grpSpPr>
      <p:sp>
        <p:nvSpPr>
          <p:cNvPr id="2" name="Text 0"/>
          <p:cNvSpPr/>
          <p:nvPr/>
        </p:nvSpPr>
        <p:spPr>
          <a:xfrm>
            <a:off x="731520" y="1645920"/>
            <a:ext cx="10058400" cy="457200"/>
          </a:xfrm>
          <a:prstGeom prst="rect">
            <a:avLst/>
          </a:prstGeom>
          <a:noFill/>
          <a:ln/>
        </p:spPr>
        <p:txBody>
          <a:bodyPr wrap="square" rtlCol="0" anchor="ctr"/>
          <a:lstStyle/>
          <a:p>
            <a:pPr indent="0" marL="0">
              <a:buNone/>
            </a:pPr>
            <a:r>
              <a:rPr lang="en-US" sz="2000" b="1" spc="600" kern="0" dirty="0">
                <a:solidFill>
                  <a:srgbClr val="7FB6D9"/>
                </a:solidFill>
                <a:latin typeface="Calibri" pitchFamily="34" charset="0"/>
                <a:ea typeface="Calibri" pitchFamily="34" charset="-122"/>
                <a:cs typeface="Calibri" pitchFamily="34" charset="-120"/>
              </a:rPr>
              <a:t>CST286</a:t>
            </a:r>
            <a:endParaRPr lang="en-US" sz="2000" dirty="0"/>
          </a:p>
        </p:txBody>
      </p:sp>
      <p:sp>
        <p:nvSpPr>
          <p:cNvPr id="3" name="Text 1"/>
          <p:cNvSpPr/>
          <p:nvPr/>
        </p:nvSpPr>
        <p:spPr>
          <a:xfrm>
            <a:off x="731520" y="2194560"/>
            <a:ext cx="10515600" cy="164592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Apply your prediction, knowing where it is applicable and where it is not</a:t>
            </a:r>
            <a:endParaRPr lang="en-US" sz="3600" dirty="0"/>
          </a:p>
        </p:txBody>
      </p:sp>
      <p:sp>
        <p:nvSpPr>
          <p:cNvPr id="4" name="Text 2"/>
          <p:cNvSpPr/>
          <p:nvPr/>
        </p:nvSpPr>
        <p:spPr>
          <a:xfrm>
            <a:off x="731520" y="4023360"/>
            <a:ext cx="10058400" cy="45720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Week 9 · Wednesday 21 October · Guide-group session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300" kern="0" dirty="0">
                <a:solidFill>
                  <a:srgbClr val="0D9488"/>
                </a:solidFill>
                <a:latin typeface="Calibri" pitchFamily="34" charset="0"/>
                <a:ea typeface="Calibri" pitchFamily="34" charset="-122"/>
                <a:cs typeface="Calibri" pitchFamily="34" charset="-120"/>
              </a:rPr>
              <a:t>LOOK BACK</a:t>
            </a:r>
            <a:endParaRPr lang="en-US" sz="1300" dirty="0"/>
          </a:p>
        </p:txBody>
      </p:sp>
      <p:sp>
        <p:nvSpPr>
          <p:cNvPr id="3" name="Text 1"/>
          <p:cNvSpPr/>
          <p:nvPr/>
        </p:nvSpPr>
        <p:spPr>
          <a:xfrm>
            <a:off x="9418320" y="457200"/>
            <a:ext cx="2194560" cy="365760"/>
          </a:xfrm>
          <a:prstGeom prst="rect">
            <a:avLst/>
          </a:prstGeom>
          <a:noFill/>
          <a:ln/>
        </p:spPr>
        <p:txBody>
          <a:bodyPr wrap="square" rtlCol="0" anchor="ctr"/>
          <a:lstStyle/>
          <a:p>
            <a:pPr algn="r" indent="0" marL="0">
              <a:buNone/>
            </a:pPr>
            <a:r>
              <a:rPr lang="en-US" sz="1200" dirty="0">
                <a:solidFill>
                  <a:srgbClr val="6B7780"/>
                </a:solidFill>
                <a:latin typeface="Calibri" pitchFamily="34" charset="0"/>
                <a:ea typeface="Calibri" pitchFamily="34" charset="-122"/>
                <a:cs typeface="Calibri" pitchFamily="34" charset="-120"/>
              </a:rPr>
              <a:t>CST286 · 02</a:t>
            </a:r>
            <a:endParaRPr lang="en-US" sz="1200" dirty="0"/>
          </a:p>
        </p:txBody>
      </p:sp>
      <p:sp>
        <p:nvSpPr>
          <p:cNvPr id="4" name="Text 2"/>
          <p:cNvSpPr/>
          <p:nvPr/>
        </p:nvSpPr>
        <p:spPr>
          <a:xfrm>
            <a:off x="640080" y="1280160"/>
            <a:ext cx="10972800" cy="1097280"/>
          </a:xfrm>
          <a:prstGeom prst="rect">
            <a:avLst/>
          </a:prstGeom>
          <a:noFill/>
          <a:ln/>
        </p:spPr>
        <p:txBody>
          <a:bodyPr wrap="square" rtlCol="0" anchor="ctr"/>
          <a:lstStyle/>
          <a:p>
            <a:pPr indent="0" marL="0">
              <a:buNone/>
            </a:pPr>
            <a:r>
              <a:rPr lang="en-US" sz="3200" b="1" dirty="0">
                <a:solidFill>
                  <a:srgbClr val="2D3B45"/>
                </a:solidFill>
                <a:latin typeface="Calibri" pitchFamily="34" charset="0"/>
                <a:ea typeface="Calibri" pitchFamily="34" charset="-122"/>
                <a:cs typeface="Calibri" pitchFamily="34" charset="-120"/>
              </a:rPr>
              <a:t>Look back: What is your Sprint 2 goal, and what have you found so far?</a:t>
            </a:r>
            <a:endParaRPr lang="en-US" sz="3200" dirty="0"/>
          </a:p>
        </p:txBody>
      </p:sp>
      <p:sp>
        <p:nvSpPr>
          <p:cNvPr id="5" name="Text 3"/>
          <p:cNvSpPr/>
          <p:nvPr/>
        </p:nvSpPr>
        <p:spPr>
          <a:xfrm>
            <a:off x="640080" y="2560320"/>
            <a:ext cx="10972800" cy="548640"/>
          </a:xfrm>
          <a:prstGeom prst="rect">
            <a:avLst/>
          </a:prstGeom>
          <a:noFill/>
          <a:ln/>
        </p:spPr>
        <p:txBody>
          <a:bodyPr wrap="square" rtlCol="0" anchor="ctr"/>
          <a:lstStyle/>
          <a:p>
            <a:pPr indent="0" marL="0">
              <a:buNone/>
            </a:pPr>
            <a:r>
              <a:rPr lang="en-US" sz="1800" b="1" dirty="0">
                <a:solidFill>
                  <a:srgbClr val="0A5A8A"/>
                </a:solidFill>
                <a:latin typeface="Calibri" pitchFamily="34" charset="0"/>
                <a:ea typeface="Calibri" pitchFamily="34" charset="-122"/>
                <a:cs typeface="Calibri" pitchFamily="34" charset="-120"/>
              </a:rPr>
              <a:t>Group discussion - you can pair up or 3 people group to start with - and then have an entire group conversation</a:t>
            </a:r>
            <a:endParaRPr lang="en-US" sz="1800" dirty="0"/>
          </a:p>
        </p:txBody>
      </p:sp>
      <p:sp>
        <p:nvSpPr>
          <p:cNvPr id="6" name="Text 4"/>
          <p:cNvSpPr/>
          <p:nvPr/>
        </p:nvSpPr>
        <p:spPr>
          <a:xfrm>
            <a:off x="640080" y="3291840"/>
            <a:ext cx="10972800" cy="1097280"/>
          </a:xfrm>
          <a:prstGeom prst="rect">
            <a:avLst/>
          </a:prstGeom>
          <a:noFill/>
          <a:ln/>
        </p:spPr>
        <p:txBody>
          <a:bodyPr wrap="square" rtlCol="0" anchor="ctr"/>
          <a:lstStyle/>
          <a:p>
            <a:pPr indent="0" marL="0">
              <a:buNone/>
            </a:pPr>
            <a:r>
              <a:rPr lang="en-US" sz="2200" dirty="0">
                <a:solidFill>
                  <a:srgbClr val="2D3B45"/>
                </a:solidFill>
                <a:latin typeface="Calibri" pitchFamily="34" charset="0"/>
                <a:ea typeface="Calibri" pitchFamily="34" charset="-122"/>
                <a:cs typeface="Calibri" pitchFamily="34" charset="-120"/>
              </a:rPr>
              <a:t>Each person: state what you want to predict from your Week 8 goal, and one resource or simulation you have looked at so far.</a:t>
            </a:r>
            <a:endParaRPr lang="en-US" sz="2200" dirty="0"/>
          </a:p>
        </p:txBody>
      </p:sp>
      <p:sp>
        <p:nvSpPr>
          <p:cNvPr id="7" name="Text 5"/>
          <p:cNvSpPr/>
          <p:nvPr/>
        </p:nvSpPr>
        <p:spPr>
          <a:xfrm>
            <a:off x="640080" y="5577840"/>
            <a:ext cx="10972800" cy="731520"/>
          </a:xfrm>
          <a:prstGeom prst="rect">
            <a:avLst/>
          </a:prstGeom>
          <a:solidFill>
            <a:srgbClr val="EAF4F3"/>
          </a:solidFill>
          <a:ln w="9525">
            <a:solidFill>
              <a:srgbClr val="0D9488"/>
            </a:solidFill>
          </a:ln>
        </p:spPr>
        <p:txBody>
          <a:bodyPr wrap="square" lIns="101600" tIns="101600" rIns="101600" bIns="101600" rtlCol="0" anchor="ctr"/>
          <a:lstStyle/>
          <a:p>
            <a:pPr indent="0" marL="0">
              <a:buNone/>
            </a:pPr>
            <a:r>
              <a:rPr lang="en-US" sz="1400" dirty="0">
                <a:solidFill>
                  <a:srgbClr val="2D3B45"/>
                </a:solidFill>
                <a:latin typeface="Calibri" pitchFamily="34" charset="0"/>
                <a:ea typeface="Calibri" pitchFamily="34" charset="-122"/>
                <a:cs typeface="Calibri" pitchFamily="34" charset="-120"/>
              </a:rPr>
              <a:t>Student guides: have the group select 1 or 2 goals to share with the class - either you or the individual students themselves can share.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300" kern="0" dirty="0">
                <a:solidFill>
                  <a:srgbClr val="0D9488"/>
                </a:solidFill>
                <a:latin typeface="Calibri" pitchFamily="34" charset="0"/>
                <a:ea typeface="Calibri" pitchFamily="34" charset="-122"/>
                <a:cs typeface="Calibri" pitchFamily="34" charset="-120"/>
              </a:rPr>
              <a:t>READ</a:t>
            </a:r>
            <a:endParaRPr lang="en-US" sz="1300" dirty="0"/>
          </a:p>
        </p:txBody>
      </p:sp>
      <p:sp>
        <p:nvSpPr>
          <p:cNvPr id="3" name="Text 1"/>
          <p:cNvSpPr/>
          <p:nvPr/>
        </p:nvSpPr>
        <p:spPr>
          <a:xfrm>
            <a:off x="9418320" y="457200"/>
            <a:ext cx="2194560" cy="365760"/>
          </a:xfrm>
          <a:prstGeom prst="rect">
            <a:avLst/>
          </a:prstGeom>
          <a:noFill/>
          <a:ln/>
        </p:spPr>
        <p:txBody>
          <a:bodyPr wrap="square" rtlCol="0" anchor="ctr"/>
          <a:lstStyle/>
          <a:p>
            <a:pPr algn="r" indent="0" marL="0">
              <a:buNone/>
            </a:pPr>
            <a:r>
              <a:rPr lang="en-US" sz="1200" dirty="0">
                <a:solidFill>
                  <a:srgbClr val="6B7780"/>
                </a:solidFill>
                <a:latin typeface="Calibri" pitchFamily="34" charset="0"/>
                <a:ea typeface="Calibri" pitchFamily="34" charset="-122"/>
                <a:cs typeface="Calibri" pitchFamily="34" charset="-120"/>
              </a:rPr>
              <a:t>CST286 · 03</a:t>
            </a:r>
            <a:endParaRPr lang="en-US" sz="1200" dirty="0"/>
          </a:p>
        </p:txBody>
      </p:sp>
      <p:sp>
        <p:nvSpPr>
          <p:cNvPr id="4" name="Text 2"/>
          <p:cNvSpPr/>
          <p:nvPr/>
        </p:nvSpPr>
        <p:spPr>
          <a:xfrm>
            <a:off x="640080" y="1463040"/>
            <a:ext cx="10972800" cy="1097280"/>
          </a:xfrm>
          <a:prstGeom prst="rect">
            <a:avLst/>
          </a:prstGeom>
          <a:noFill/>
          <a:ln/>
        </p:spPr>
        <p:txBody>
          <a:bodyPr wrap="square" rtlCol="0" anchor="ctr"/>
          <a:lstStyle/>
          <a:p>
            <a:pPr indent="0" marL="0">
              <a:buNone/>
            </a:pPr>
            <a:r>
              <a:rPr lang="en-US" sz="3400" b="1" dirty="0">
                <a:solidFill>
                  <a:srgbClr val="2D3B45"/>
                </a:solidFill>
                <a:latin typeface="Calibri" pitchFamily="34" charset="0"/>
                <a:ea typeface="Calibri" pitchFamily="34" charset="-122"/>
                <a:cs typeface="Calibri" pitchFamily="34" charset="-120"/>
              </a:rPr>
              <a:t>Read the Week 9 assignment carefully · 10-15 min</a:t>
            </a:r>
            <a:endParaRPr lang="en-US" sz="3400" dirty="0"/>
          </a:p>
        </p:txBody>
      </p:sp>
      <p:sp>
        <p:nvSpPr>
          <p:cNvPr id="5" name="Text 3"/>
          <p:cNvSpPr/>
          <p:nvPr/>
        </p:nvSpPr>
        <p:spPr>
          <a:xfrm>
            <a:off x="640080" y="2743200"/>
            <a:ext cx="10972800" cy="1097280"/>
          </a:xfrm>
          <a:prstGeom prst="rect">
            <a:avLst/>
          </a:prstGeom>
          <a:noFill/>
          <a:ln/>
        </p:spPr>
        <p:txBody>
          <a:bodyPr wrap="square" rtlCol="0" anchor="ctr"/>
          <a:lstStyle/>
          <a:p>
            <a:pPr indent="0" marL="0">
              <a:buNone/>
            </a:pPr>
            <a:r>
              <a:rPr lang="en-US" sz="2200" dirty="0">
                <a:solidFill>
                  <a:srgbClr val="2D3B45"/>
                </a:solidFill>
                <a:latin typeface="Calibri" pitchFamily="34" charset="0"/>
                <a:ea typeface="Calibri" pitchFamily="34" charset="-122"/>
                <a:cs typeface="Calibri" pitchFamily="34" charset="-120"/>
              </a:rPr>
              <a:t>Five real-world scenarios, on the course site and Canvas. Read the form and the two worked example pairs on your own before we discuss them.</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300" kern="0" dirty="0">
                <a:solidFill>
                  <a:srgbClr val="0D9488"/>
                </a:solidFill>
                <a:latin typeface="Calibri" pitchFamily="34" charset="0"/>
                <a:ea typeface="Calibri" pitchFamily="34" charset="-122"/>
                <a:cs typeface="Calibri" pitchFamily="34" charset="-120"/>
              </a:rPr>
              <a:t>WORK TIME · PART 1 &amp; SCENARIO 1</a:t>
            </a:r>
            <a:endParaRPr lang="en-US" sz="1300" dirty="0"/>
          </a:p>
        </p:txBody>
      </p:sp>
      <p:sp>
        <p:nvSpPr>
          <p:cNvPr id="3" name="Text 1"/>
          <p:cNvSpPr/>
          <p:nvPr/>
        </p:nvSpPr>
        <p:spPr>
          <a:xfrm>
            <a:off x="9418320" y="457200"/>
            <a:ext cx="2194560" cy="365760"/>
          </a:xfrm>
          <a:prstGeom prst="rect">
            <a:avLst/>
          </a:prstGeom>
          <a:noFill/>
          <a:ln/>
        </p:spPr>
        <p:txBody>
          <a:bodyPr wrap="square" rtlCol="0" anchor="ctr"/>
          <a:lstStyle/>
          <a:p>
            <a:pPr algn="r" indent="0" marL="0">
              <a:buNone/>
            </a:pPr>
            <a:r>
              <a:rPr lang="en-US" sz="1200" dirty="0">
                <a:solidFill>
                  <a:srgbClr val="6B7780"/>
                </a:solidFill>
                <a:latin typeface="Calibri" pitchFamily="34" charset="0"/>
                <a:ea typeface="Calibri" pitchFamily="34" charset="-122"/>
                <a:cs typeface="Calibri" pitchFamily="34" charset="-120"/>
              </a:rPr>
              <a:t>CST286 · 04</a:t>
            </a:r>
            <a:endParaRPr lang="en-US" sz="1200" dirty="0"/>
          </a:p>
        </p:txBody>
      </p:sp>
      <p:sp>
        <p:nvSpPr>
          <p:cNvPr id="4" name="Text 2"/>
          <p:cNvSpPr/>
          <p:nvPr/>
        </p:nvSpPr>
        <p:spPr>
          <a:xfrm>
            <a:off x="640080" y="1371600"/>
            <a:ext cx="10972800" cy="1097280"/>
          </a:xfrm>
          <a:prstGeom prst="rect">
            <a:avLst/>
          </a:prstGeom>
          <a:noFill/>
          <a:ln/>
        </p:spPr>
        <p:txBody>
          <a:bodyPr wrap="square" rtlCol="0" anchor="ctr"/>
          <a:lstStyle/>
          <a:p>
            <a:pPr indent="0" marL="0">
              <a:buNone/>
            </a:pPr>
            <a:r>
              <a:rPr lang="en-US" sz="3200" b="1" dirty="0">
                <a:solidFill>
                  <a:srgbClr val="2D3B45"/>
                </a:solidFill>
                <a:latin typeface="Calibri" pitchFamily="34" charset="0"/>
                <a:ea typeface="Calibri" pitchFamily="34" charset="-122"/>
                <a:cs typeface="Calibri" pitchFamily="34" charset="-120"/>
              </a:rPr>
              <a:t>Find your formula and work Scenario 1 · 15-20 min</a:t>
            </a:r>
            <a:endParaRPr lang="en-US" sz="3200" dirty="0"/>
          </a:p>
        </p:txBody>
      </p:sp>
      <p:sp>
        <p:nvSpPr>
          <p:cNvPr id="5" name="Text 3"/>
          <p:cNvSpPr/>
          <p:nvPr/>
        </p:nvSpPr>
        <p:spPr>
          <a:xfrm>
            <a:off x="640080" y="2651760"/>
            <a:ext cx="10972800" cy="1463040"/>
          </a:xfrm>
          <a:prstGeom prst="rect">
            <a:avLst/>
          </a:prstGeom>
          <a:noFill/>
          <a:ln/>
        </p:spPr>
        <p:txBody>
          <a:bodyPr wrap="square" rtlCol="0" anchor="ctr"/>
          <a:lstStyle/>
          <a:p>
            <a:pPr indent="0" marL="0">
              <a:buNone/>
            </a:pPr>
            <a:r>
              <a:rPr lang="en-US" sz="2100" dirty="0">
                <a:solidFill>
                  <a:srgbClr val="2D3B45"/>
                </a:solidFill>
                <a:latin typeface="Calibri" pitchFamily="34" charset="0"/>
                <a:ea typeface="Calibri" pitchFamily="34" charset="-122"/>
                <a:cs typeface="Calibri" pitchFamily="34" charset="-120"/>
              </a:rPr>
              <a:t>Open the form, write your formula, units, and condition in Part 1, and work the numbers step by step for Scenario 1. Use your resource, the AI guidance button, or your group if you are still finding your equation.</a:t>
            </a:r>
            <a:endParaRPr lang="en-US" sz="2100" dirty="0"/>
          </a:p>
        </p:txBody>
      </p:sp>
      <p:sp>
        <p:nvSpPr>
          <p:cNvPr id="6" name="Text 4"/>
          <p:cNvSpPr/>
          <p:nvPr/>
        </p:nvSpPr>
        <p:spPr>
          <a:xfrm>
            <a:off x="640080" y="5577840"/>
            <a:ext cx="10972800" cy="731520"/>
          </a:xfrm>
          <a:prstGeom prst="rect">
            <a:avLst/>
          </a:prstGeom>
          <a:solidFill>
            <a:srgbClr val="EAF4F3"/>
          </a:solidFill>
          <a:ln w="9525">
            <a:solidFill>
              <a:srgbClr val="0D9488"/>
            </a:solidFill>
          </a:ln>
        </p:spPr>
        <p:txBody>
          <a:bodyPr wrap="square" lIns="101600" tIns="101600" rIns="101600" bIns="101600" rtlCol="0" anchor="ctr"/>
          <a:lstStyle/>
          <a:p>
            <a:pPr indent="0" marL="0">
              <a:buNone/>
            </a:pPr>
            <a:r>
              <a:rPr lang="en-US" sz="1400" dirty="0">
                <a:solidFill>
                  <a:srgbClr val="2D3B45"/>
                </a:solidFill>
                <a:latin typeface="Calibri" pitchFamily="34" charset="0"/>
                <a:ea typeface="Calibri" pitchFamily="34" charset="-122"/>
                <a:cs typeface="Calibri" pitchFamily="34" charset="-120"/>
              </a:rPr>
              <a:t>Student guides: check in with each person so everyone has a math formula, its condition, and Scenario 1 worked with units before the group challenge.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300" kern="0" dirty="0">
                <a:solidFill>
                  <a:srgbClr val="0D9488"/>
                </a:solidFill>
                <a:latin typeface="Calibri" pitchFamily="34" charset="0"/>
                <a:ea typeface="Calibri" pitchFamily="34" charset="-122"/>
                <a:cs typeface="Calibri" pitchFamily="34" charset="-120"/>
              </a:rPr>
              <a:t>ONE EXAMPLE</a:t>
            </a:r>
            <a:endParaRPr lang="en-US" sz="1300" dirty="0"/>
          </a:p>
        </p:txBody>
      </p:sp>
      <p:sp>
        <p:nvSpPr>
          <p:cNvPr id="3" name="Text 1"/>
          <p:cNvSpPr/>
          <p:nvPr/>
        </p:nvSpPr>
        <p:spPr>
          <a:xfrm>
            <a:off x="9418320" y="457200"/>
            <a:ext cx="2194560" cy="365760"/>
          </a:xfrm>
          <a:prstGeom prst="rect">
            <a:avLst/>
          </a:prstGeom>
          <a:noFill/>
          <a:ln/>
        </p:spPr>
        <p:txBody>
          <a:bodyPr wrap="square" rtlCol="0" anchor="ctr"/>
          <a:lstStyle/>
          <a:p>
            <a:pPr algn="r" indent="0" marL="0">
              <a:buNone/>
            </a:pPr>
            <a:r>
              <a:rPr lang="en-US" sz="1200" dirty="0">
                <a:solidFill>
                  <a:srgbClr val="6B7780"/>
                </a:solidFill>
                <a:latin typeface="Calibri" pitchFamily="34" charset="0"/>
                <a:ea typeface="Calibri" pitchFamily="34" charset="-122"/>
                <a:cs typeface="Calibri" pitchFamily="34" charset="-120"/>
              </a:rPr>
              <a:t>CST286 · 05</a:t>
            </a:r>
            <a:endParaRPr lang="en-US" sz="1200" dirty="0"/>
          </a:p>
        </p:txBody>
      </p:sp>
      <p:sp>
        <p:nvSpPr>
          <p:cNvPr id="4" name="Text 2"/>
          <p:cNvSpPr/>
          <p:nvPr/>
        </p:nvSpPr>
        <p:spPr>
          <a:xfrm>
            <a:off x="640080" y="1371600"/>
            <a:ext cx="10972800" cy="1097280"/>
          </a:xfrm>
          <a:prstGeom prst="rect">
            <a:avLst/>
          </a:prstGeom>
          <a:noFill/>
          <a:ln/>
        </p:spPr>
        <p:txBody>
          <a:bodyPr wrap="square" rtlCol="0" anchor="ctr"/>
          <a:lstStyle/>
          <a:p>
            <a:pPr indent="0" marL="0">
              <a:buNone/>
            </a:pPr>
            <a:r>
              <a:rPr lang="en-US" sz="3400" b="1" dirty="0">
                <a:solidFill>
                  <a:srgbClr val="2D3B45"/>
                </a:solidFill>
                <a:latin typeface="Calibri" pitchFamily="34" charset="0"/>
                <a:ea typeface="Calibri" pitchFamily="34" charset="-122"/>
                <a:cs typeface="Calibri" pitchFamily="34" charset="-120"/>
              </a:rPr>
              <a:t>Changing one physical detail breaks the condition</a:t>
            </a:r>
            <a:endParaRPr lang="en-US" sz="3400" dirty="0"/>
          </a:p>
        </p:txBody>
      </p:sp>
      <p:sp>
        <p:nvSpPr>
          <p:cNvPr id="5" name="Text 3"/>
          <p:cNvSpPr/>
          <p:nvPr/>
        </p:nvSpPr>
        <p:spPr>
          <a:xfrm>
            <a:off x="640080" y="2651760"/>
            <a:ext cx="10972800" cy="1280160"/>
          </a:xfrm>
          <a:prstGeom prst="rect">
            <a:avLst/>
          </a:prstGeom>
          <a:noFill/>
          <a:ln/>
        </p:spPr>
        <p:txBody>
          <a:bodyPr wrap="square" rtlCol="0" anchor="ctr"/>
          <a:lstStyle/>
          <a:p>
            <a:pPr indent="0" marL="0">
              <a:buNone/>
            </a:pPr>
            <a:r>
              <a:rPr lang="en-US" sz="2200" dirty="0">
                <a:solidFill>
                  <a:srgbClr val="2D3B45"/>
                </a:solidFill>
                <a:latin typeface="Calibri" pitchFamily="34" charset="0"/>
                <a:ea typeface="Calibri" pitchFamily="34" charset="-122"/>
                <a:cs typeface="Calibri" pitchFamily="34" charset="-120"/>
              </a:rPr>
              <a:t>Phone on smooth ice (0.30 N ÷ 0.20 kg = 1.5 m/s²) works because friction is close to zero; the same push on a wooden desk does not move the phone at all, because the desk's friction holds it back with more than 0.30 N.</a:t>
            </a:r>
            <a:endParaRPr lang="en-US" sz="2200" dirty="0"/>
          </a:p>
        </p:txBody>
      </p:sp>
      <p:sp>
        <p:nvSpPr>
          <p:cNvPr id="6" name="Text 4"/>
          <p:cNvSpPr/>
          <p:nvPr/>
        </p:nvSpPr>
        <p:spPr>
          <a:xfrm>
            <a:off x="640080" y="4480560"/>
            <a:ext cx="10972800" cy="822960"/>
          </a:xfrm>
          <a:prstGeom prst="rect">
            <a:avLst/>
          </a:prstGeom>
          <a:noFill/>
          <a:ln/>
        </p:spPr>
        <p:txBody>
          <a:bodyPr wrap="square" rtlCol="0" anchor="ctr"/>
          <a:lstStyle/>
          <a:p>
            <a:pPr indent="0" marL="0">
              <a:buNone/>
            </a:pPr>
            <a:r>
              <a:rPr lang="en-US" sz="2100" b="1" dirty="0">
                <a:solidFill>
                  <a:srgbClr val="0A5A8A"/>
                </a:solidFill>
                <a:latin typeface="Calibri" pitchFamily="34" charset="0"/>
                <a:ea typeface="Calibri" pitchFamily="34" charset="-122"/>
                <a:cs typeface="Calibri" pitchFamily="34" charset="-120"/>
              </a:rPr>
              <a:t>A look-alike scenario keeps the same numbers on the surface and changes one physical fact that breaks your condition.</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300" kern="0" dirty="0">
                <a:solidFill>
                  <a:srgbClr val="0D9488"/>
                </a:solidFill>
                <a:latin typeface="Calibri" pitchFamily="34" charset="0"/>
                <a:ea typeface="Calibri" pitchFamily="34" charset="-122"/>
                <a:cs typeface="Calibri" pitchFamily="34" charset="-120"/>
              </a:rPr>
              <a:t>BREAK THE CONDITION</a:t>
            </a:r>
            <a:endParaRPr lang="en-US" sz="1300" dirty="0"/>
          </a:p>
        </p:txBody>
      </p:sp>
      <p:sp>
        <p:nvSpPr>
          <p:cNvPr id="3" name="Text 1"/>
          <p:cNvSpPr/>
          <p:nvPr/>
        </p:nvSpPr>
        <p:spPr>
          <a:xfrm>
            <a:off x="9418320" y="457200"/>
            <a:ext cx="2194560" cy="365760"/>
          </a:xfrm>
          <a:prstGeom prst="rect">
            <a:avLst/>
          </a:prstGeom>
          <a:noFill/>
          <a:ln/>
        </p:spPr>
        <p:txBody>
          <a:bodyPr wrap="square" rtlCol="0" anchor="ctr"/>
          <a:lstStyle/>
          <a:p>
            <a:pPr algn="r" indent="0" marL="0">
              <a:buNone/>
            </a:pPr>
            <a:r>
              <a:rPr lang="en-US" sz="1200" dirty="0">
                <a:solidFill>
                  <a:srgbClr val="6B7780"/>
                </a:solidFill>
                <a:latin typeface="Calibri" pitchFamily="34" charset="0"/>
                <a:ea typeface="Calibri" pitchFamily="34" charset="-122"/>
                <a:cs typeface="Calibri" pitchFamily="34" charset="-120"/>
              </a:rPr>
              <a:t>CST286 · 06</a:t>
            </a:r>
            <a:endParaRPr lang="en-US" sz="1200" dirty="0"/>
          </a:p>
        </p:txBody>
      </p:sp>
      <p:sp>
        <p:nvSpPr>
          <p:cNvPr id="4" name="Text 2"/>
          <p:cNvSpPr/>
          <p:nvPr/>
        </p:nvSpPr>
        <p:spPr>
          <a:xfrm>
            <a:off x="640080" y="1188720"/>
            <a:ext cx="10972800" cy="914400"/>
          </a:xfrm>
          <a:prstGeom prst="rect">
            <a:avLst/>
          </a:prstGeom>
          <a:noFill/>
          <a:ln/>
        </p:spPr>
        <p:txBody>
          <a:bodyPr wrap="square" rtlCol="0" anchor="ctr"/>
          <a:lstStyle/>
          <a:p>
            <a:pPr indent="0" marL="0">
              <a:buNone/>
            </a:pPr>
            <a:r>
              <a:rPr lang="en-US" sz="3200" b="1" dirty="0">
                <a:solidFill>
                  <a:srgbClr val="2D3B45"/>
                </a:solidFill>
                <a:latin typeface="Calibri" pitchFamily="34" charset="0"/>
                <a:ea typeface="Calibri" pitchFamily="34" charset="-122"/>
                <a:cs typeface="Calibri" pitchFamily="34" charset="-120"/>
              </a:rPr>
              <a:t>Group challenge: Where does your formula stop working?</a:t>
            </a:r>
            <a:endParaRPr lang="en-US" sz="3200" dirty="0"/>
          </a:p>
        </p:txBody>
      </p:sp>
      <p:sp>
        <p:nvSpPr>
          <p:cNvPr id="5" name="Text 3"/>
          <p:cNvSpPr/>
          <p:nvPr/>
        </p:nvSpPr>
        <p:spPr>
          <a:xfrm>
            <a:off x="640080" y="2194560"/>
            <a:ext cx="10972800" cy="548640"/>
          </a:xfrm>
          <a:prstGeom prst="rect">
            <a:avLst/>
          </a:prstGeom>
          <a:noFill/>
          <a:ln/>
        </p:spPr>
        <p:txBody>
          <a:bodyPr wrap="square" rtlCol="0" anchor="ctr"/>
          <a:lstStyle/>
          <a:p>
            <a:pPr indent="0" marL="0">
              <a:buNone/>
            </a:pPr>
            <a:r>
              <a:rPr lang="en-US" sz="1800" b="1" dirty="0">
                <a:solidFill>
                  <a:srgbClr val="0A5A8A"/>
                </a:solidFill>
                <a:latin typeface="Calibri" pitchFamily="34" charset="0"/>
                <a:ea typeface="Calibri" pitchFamily="34" charset="-122"/>
                <a:cs typeface="Calibri" pitchFamily="34" charset="-120"/>
              </a:rPr>
              <a:t>Group discussion - you can pair up or 3 people group to start with - and then have an entire group conversation</a:t>
            </a:r>
            <a:endParaRPr lang="en-US" sz="1800" dirty="0"/>
          </a:p>
        </p:txBody>
      </p:sp>
      <p:sp>
        <p:nvSpPr>
          <p:cNvPr id="6" name="Text 4"/>
          <p:cNvSpPr/>
          <p:nvPr/>
        </p:nvSpPr>
        <p:spPr>
          <a:xfrm>
            <a:off x="640080" y="2834640"/>
            <a:ext cx="10972800" cy="1280160"/>
          </a:xfrm>
          <a:prstGeom prst="rect">
            <a:avLst/>
          </a:prstGeom>
          <a:noFill/>
          <a:ln/>
        </p:spPr>
        <p:txBody>
          <a:bodyPr wrap="square" rtlCol="0" anchor="ctr"/>
          <a:lstStyle/>
          <a:p>
            <a:pPr indent="0" marL="0">
              <a:buNone/>
            </a:pPr>
            <a:r>
              <a:rPr lang="en-US" sz="2000" dirty="0">
                <a:solidFill>
                  <a:srgbClr val="2D3B45"/>
                </a:solidFill>
                <a:latin typeface="Calibri" pitchFamily="34" charset="0"/>
                <a:ea typeface="Calibri" pitchFamily="34" charset="-122"/>
                <a:cs typeface="Calibri" pitchFamily="34" charset="-120"/>
              </a:rPr>
              <a:t>Each person: share the formula, condition, and Scenario 1 you just wrote. Your group’s job is to change one physical detail in your Scenario 1 so it looks the same on the surface, but breaks your condition - then write that down as Scenario 4 before you leave.</a:t>
            </a:r>
            <a:endParaRPr lang="en-US" sz="2000" dirty="0"/>
          </a:p>
        </p:txBody>
      </p:sp>
      <p:sp>
        <p:nvSpPr>
          <p:cNvPr id="7" name="Text 5"/>
          <p:cNvSpPr/>
          <p:nvPr/>
        </p:nvSpPr>
        <p:spPr>
          <a:xfrm>
            <a:off x="640080" y="4297680"/>
            <a:ext cx="10972800" cy="914400"/>
          </a:xfrm>
          <a:prstGeom prst="rect">
            <a:avLst/>
          </a:prstGeom>
          <a:noFill/>
          <a:ln/>
        </p:spPr>
        <p:txBody>
          <a:bodyPr wrap="square" rtlCol="0" anchor="ctr"/>
          <a:lstStyle/>
          <a:p>
            <a:pPr indent="0" marL="0">
              <a:buNone/>
            </a:pPr>
            <a:r>
              <a:rPr lang="en-US" sz="1900" b="1" dirty="0">
                <a:solidFill>
                  <a:srgbClr val="0A5A8A"/>
                </a:solidFill>
                <a:latin typeface="Calibri" pitchFamily="34" charset="0"/>
                <a:ea typeface="Calibri" pitchFamily="34" charset="-122"/>
                <a:cs typeface="Calibri" pitchFamily="34" charset="-120"/>
              </a:rPr>
              <a:t>If you are not sure what your condition is yet, your group can help you find it by asking what your formula ignores (such as friction, air drag, or heat loss).</a:t>
            </a:r>
            <a:endParaRPr lang="en-US" sz="1900" dirty="0"/>
          </a:p>
        </p:txBody>
      </p:sp>
      <p:sp>
        <p:nvSpPr>
          <p:cNvPr id="8" name="Text 6"/>
          <p:cNvSpPr/>
          <p:nvPr/>
        </p:nvSpPr>
        <p:spPr>
          <a:xfrm>
            <a:off x="640080" y="5577840"/>
            <a:ext cx="10972800" cy="731520"/>
          </a:xfrm>
          <a:prstGeom prst="rect">
            <a:avLst/>
          </a:prstGeom>
          <a:solidFill>
            <a:srgbClr val="EAF4F3"/>
          </a:solidFill>
          <a:ln w="9525">
            <a:solidFill>
              <a:srgbClr val="0D9488"/>
            </a:solidFill>
          </a:ln>
        </p:spPr>
        <p:txBody>
          <a:bodyPr wrap="square" lIns="101600" tIns="101600" rIns="101600" bIns="101600" rtlCol="0" anchor="ctr"/>
          <a:lstStyle/>
          <a:p>
            <a:pPr indent="0" marL="0">
              <a:buNone/>
            </a:pPr>
            <a:r>
              <a:rPr lang="en-US" sz="1400" dirty="0">
                <a:solidFill>
                  <a:srgbClr val="2D3B45"/>
                </a:solidFill>
                <a:latin typeface="Calibri" pitchFamily="34" charset="0"/>
                <a:ea typeface="Calibri" pitchFamily="34" charset="-122"/>
                <a:cs typeface="Calibri" pitchFamily="34" charset="-120"/>
              </a:rPr>
              <a:t>Student guides: your aim is for every person in your group to leave this conversation with Scenario 4 drafted on their form.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300" kern="0" dirty="0">
                <a:solidFill>
                  <a:srgbClr val="0D9488"/>
                </a:solidFill>
                <a:latin typeface="Calibri" pitchFamily="34" charset="0"/>
                <a:ea typeface="Calibri" pitchFamily="34" charset="-122"/>
                <a:cs typeface="Calibri" pitchFamily="34" charset="-120"/>
              </a:rPr>
              <a:t>REMINDERS</a:t>
            </a:r>
            <a:endParaRPr lang="en-US" sz="1300" dirty="0"/>
          </a:p>
        </p:txBody>
      </p:sp>
      <p:sp>
        <p:nvSpPr>
          <p:cNvPr id="3" name="Text 1"/>
          <p:cNvSpPr/>
          <p:nvPr/>
        </p:nvSpPr>
        <p:spPr>
          <a:xfrm>
            <a:off x="9418320" y="457200"/>
            <a:ext cx="2194560" cy="365760"/>
          </a:xfrm>
          <a:prstGeom prst="rect">
            <a:avLst/>
          </a:prstGeom>
          <a:noFill/>
          <a:ln/>
        </p:spPr>
        <p:txBody>
          <a:bodyPr wrap="square" rtlCol="0" anchor="ctr"/>
          <a:lstStyle/>
          <a:p>
            <a:pPr algn="r" indent="0" marL="0">
              <a:buNone/>
            </a:pPr>
            <a:r>
              <a:rPr lang="en-US" sz="1200" dirty="0">
                <a:solidFill>
                  <a:srgbClr val="6B7780"/>
                </a:solidFill>
                <a:latin typeface="Calibri" pitchFamily="34" charset="0"/>
                <a:ea typeface="Calibri" pitchFamily="34" charset="-122"/>
                <a:cs typeface="Calibri" pitchFamily="34" charset="-120"/>
              </a:rPr>
              <a:t>CST286 · 07</a:t>
            </a:r>
            <a:endParaRPr lang="en-US" sz="1200" dirty="0"/>
          </a:p>
        </p:txBody>
      </p:sp>
      <p:sp>
        <p:nvSpPr>
          <p:cNvPr id="4" name="Text 2"/>
          <p:cNvSpPr/>
          <p:nvPr/>
        </p:nvSpPr>
        <p:spPr>
          <a:xfrm>
            <a:off x="640080" y="1188720"/>
            <a:ext cx="10972800" cy="822960"/>
          </a:xfrm>
          <a:prstGeom prst="rect">
            <a:avLst/>
          </a:prstGeom>
          <a:noFill/>
          <a:ln/>
        </p:spPr>
        <p:txBody>
          <a:bodyPr wrap="square" rtlCol="0" anchor="ctr"/>
          <a:lstStyle/>
          <a:p>
            <a:pPr indent="0" marL="0">
              <a:buNone/>
            </a:pPr>
            <a:r>
              <a:rPr lang="en-US" sz="3200" b="1" dirty="0">
                <a:solidFill>
                  <a:srgbClr val="2D3B45"/>
                </a:solidFill>
                <a:latin typeface="Calibri" pitchFamily="34" charset="0"/>
                <a:ea typeface="Calibri" pitchFamily="34" charset="-122"/>
                <a:cs typeface="Calibri" pitchFamily="34" charset="-120"/>
              </a:rPr>
              <a:t>Reminders</a:t>
            </a:r>
            <a:endParaRPr lang="en-US" sz="3200" dirty="0"/>
          </a:p>
        </p:txBody>
      </p:sp>
      <p:sp>
        <p:nvSpPr>
          <p:cNvPr id="5" name="Text 3"/>
          <p:cNvSpPr/>
          <p:nvPr/>
        </p:nvSpPr>
        <p:spPr>
          <a:xfrm>
            <a:off x="640080" y="2194560"/>
            <a:ext cx="10972800" cy="3840480"/>
          </a:xfrm>
          <a:prstGeom prst="rect">
            <a:avLst/>
          </a:prstGeom>
          <a:noFill/>
          <a:ln/>
        </p:spPr>
        <p:txBody>
          <a:bodyPr wrap="square" rtlCol="0" anchor="t"/>
          <a:lstStyle/>
          <a:p>
            <a:pPr indent="0" marL="0">
              <a:spcAft>
                <a:spcPts val="1200"/>
              </a:spcAft>
              <a:buNone/>
            </a:pPr>
            <a:r>
              <a:rPr lang="en-US" sz="1900" b="1" dirty="0">
                <a:solidFill>
                  <a:srgbClr val="0A5A8A"/>
                </a:solidFill>
                <a:latin typeface="Calibri" pitchFamily="34" charset="0"/>
                <a:ea typeface="Calibri" pitchFamily="34" charset="-122"/>
                <a:cs typeface="Calibri" pitchFamily="34" charset="-120"/>
              </a:rPr>
              <a:t>Graded item: </a:t>
            </a:r>
            <a:r>
              <a:rPr lang="en-US" sz="1900" dirty="0">
                <a:solidFill>
                  <a:srgbClr val="2D3B45"/>
                </a:solidFill>
                <a:latin typeface="Calibri" pitchFamily="34" charset="0"/>
                <a:ea typeface="Calibri" pitchFamily="34" charset="-122"/>
                <a:cs typeface="Calibri" pitchFamily="34" charset="-120"/>
              </a:rPr>
              <a:t>Five real-world scenarios, due Monday 26 October at 11:59 pm (10% a day late penalty, no exceptions).</a:t>
            </a:r>
            <a:endParaRPr lang="en-US" sz="1900" dirty="0"/>
          </a:p>
          <a:p>
            <a:pPr indent="0" marL="0">
              <a:spcAft>
                <a:spcPts val="1200"/>
              </a:spcAft>
              <a:buNone/>
            </a:pPr>
            <a:r>
              <a:rPr lang="en-US" sz="1900" b="1" dirty="0">
                <a:solidFill>
                  <a:srgbClr val="0A5A8A"/>
                </a:solidFill>
                <a:latin typeface="Calibri" pitchFamily="34" charset="0"/>
                <a:ea typeface="Calibri" pitchFamily="34" charset="-122"/>
                <a:cs typeface="Calibri" pitchFamily="34" charset="-120"/>
              </a:rPr>
              <a:t>Own your progress: </a:t>
            </a:r>
            <a:r>
              <a:rPr lang="en-US" sz="1900" dirty="0">
                <a:solidFill>
                  <a:srgbClr val="2D3B45"/>
                </a:solidFill>
                <a:latin typeface="Calibri" pitchFamily="34" charset="0"/>
                <a:ea typeface="Calibri" pitchFamily="34" charset="-122"/>
                <a:cs typeface="Calibri" pitchFamily="34" charset="-120"/>
              </a:rPr>
              <a:t>Design an experiment and collect data for your prediction (does not affect your final grade, except as a substitute for something missed; counts as your confirmation check in Part 1).</a:t>
            </a:r>
            <a:endParaRPr lang="en-US" sz="1900" dirty="0"/>
          </a:p>
          <a:p>
            <a:pPr indent="0" marL="0">
              <a:spcAft>
                <a:spcPts val="1200"/>
              </a:spcAft>
              <a:buNone/>
            </a:pPr>
            <a:r>
              <a:rPr lang="en-US" sz="1900" b="1" dirty="0">
                <a:solidFill>
                  <a:srgbClr val="0A5A8A"/>
                </a:solidFill>
                <a:latin typeface="Calibri" pitchFamily="34" charset="0"/>
                <a:ea typeface="Calibri" pitchFamily="34" charset="-122"/>
                <a:cs typeface="Calibri" pitchFamily="34" charset="-120"/>
              </a:rPr>
              <a:t>Next week: </a:t>
            </a:r>
            <a:r>
              <a:rPr lang="en-US" sz="1900" dirty="0">
                <a:solidFill>
                  <a:srgbClr val="2D3B45"/>
                </a:solidFill>
                <a:latin typeface="Calibri" pitchFamily="34" charset="0"/>
                <a:ea typeface="Calibri" pitchFamily="34" charset="-122"/>
                <a:cs typeface="Calibri" pitchFamily="34" charset="-120"/>
              </a:rPr>
              <a:t>Monday 26 October is open office hours on Zoom and scheduled check-ins; Wednesday 28 October is the Sprint 2 Exam in class (closed book, on paper: work one of your own scenarios + reflect on how you learned).</a:t>
            </a:r>
            <a:endParaRPr lang="en-US" sz="1900" dirty="0"/>
          </a:p>
          <a:p>
            <a:pPr indent="0" marL="0">
              <a:spcAft>
                <a:spcPts val="1200"/>
              </a:spcAft>
              <a:buNone/>
            </a:pPr>
            <a:r>
              <a:rPr lang="en-US" sz="1900" b="1" dirty="0">
                <a:solidFill>
                  <a:srgbClr val="0A5A8A"/>
                </a:solidFill>
                <a:latin typeface="Calibri" pitchFamily="34" charset="0"/>
                <a:ea typeface="Calibri" pitchFamily="34" charset="-122"/>
                <a:cs typeface="Calibri" pitchFamily="34" charset="-120"/>
              </a:rPr>
              <a:t>Questions: </a:t>
            </a:r>
            <a:r>
              <a:rPr lang="en-US" sz="1900" dirty="0">
                <a:solidFill>
                  <a:srgbClr val="2D3B45"/>
                </a:solidFill>
                <a:latin typeface="Calibri" pitchFamily="34" charset="0"/>
                <a:ea typeface="Calibri" pitchFamily="34" charset="-122"/>
                <a:cs typeface="Calibri" pitchFamily="34" charset="-120"/>
              </a:rPr>
              <a:t>ask in your guide group, in Monday Zoom office hours, or by email.</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2026-10-12T11:10:29Z</dcterms:created>
  <dcterms:modified xsi:type="dcterms:W3CDTF">2026-10-12T11:10:29Z</dcterms:modified>
</cp:coreProperties>
</file>